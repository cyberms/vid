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15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91072" y="914400"/>
            <a:ext cx="2651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38BDF8">
                    <a:alpha val="80000"/>
                  </a:srgbClr>
                </a:solidFill>
              </a:rPr>
              <a:t>VID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172200" y="2286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60000"/>
                  </a:srgbClr>
                </a:solidFill>
              </a:rPr>
              <a:t>Vendor Independence Day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09728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Vendor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8BDF8"/>
                </a:solidFill>
              </a:rPr>
              <a:t>Independence Day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36576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94436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BEAFE"/>
                </a:solidFill>
              </a:rPr>
              <a:t>Management Status Update — Phase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März 2026  |  Windows 11 · Citrix MCS · VMware vSphere · Packer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Was ist Vendor Independence Day?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4B"/>
                </a:solidFill>
              </a:rPr>
              <a:t>Die Herausforderung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Aktuelle VDI-Infrastrukturen sind eng an einzelne Hersteller gebunden. Ein Wechsel von Hypervisor, Broker oder Profillösung bedeutet heute: kompletter Neuaufbau, hohe Kosten, langer Stillstand.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11480" y="2331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4B"/>
                </a:solidFill>
              </a:rPr>
              <a:t>Unsere Antwort: VID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Ein Architekturprogramm, das Windows-Images in klar definierte, austauschbare Schichten aufteilt. Jede Schicht ist unabhängig deploybar — Vendor-Wechsel ohne OS-Rebuild.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0" y="91440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0" y="914400"/>
            <a:ext cx="54864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0058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8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722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Architektur-Schichten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7220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klar getrennte Schichten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224028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0" y="2240280"/>
            <a:ext cx="54864" cy="1051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233172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BDF8"/>
                </a:solidFill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172200" y="2331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Phasen im Programm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Phase 1 läuft jetzt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356616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0" y="3566160"/>
            <a:ext cx="54864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36576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100%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17220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Automation via Packer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72200" y="4069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kein manuelles Golding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84632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F4B"/>
                </a:solidFill>
              </a:rPr>
              <a:t>Ziel: Hypervisor, Broker und Profillösung unabhängig voneinander austauschen — ohne Neuaufbau des Basisimages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Das VID-Schichtenmodell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86968"/>
            <a:ext cx="8412480" cy="42976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86968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86968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92354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Schicht 8 — DEX / Monitoring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111556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ControlUp · uberagent · Login Enterprise (VSI) · Session-Analytics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53312"/>
            <a:ext cx="8412480" cy="429768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53312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53312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138988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Schicht 7 — Broker + Profil + Apps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15819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Citrix VDA · Profile Management · FSLogix · App-Installer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321040" y="1453896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4538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819656"/>
            <a:ext cx="8412480" cy="429768"/>
          </a:xfrm>
          <a:prstGeom prst="rect">
            <a:avLst/>
          </a:prstGeom>
          <a:solidFill>
            <a:srgbClr val="1060B0"/>
          </a:solidFill>
          <a:ln w="12700">
            <a:solidFill>
              <a:srgbClr val="1060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1819656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19656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185623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Schicht 6 — Treiber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204825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VMware Tools · Paravirtual SCSI · VMXNET3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321040" y="1920240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192024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286000"/>
            <a:ext cx="8412480" cy="4297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286000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286000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2322576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Schicht 5 — Windows 11 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" y="25146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Unattended Install · Windows Updates · Hardening (Basis-Image)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321040" y="2386584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2386584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65760" y="2752344"/>
            <a:ext cx="8412480" cy="4297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752344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752344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" y="2788920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Schicht 4 — Virtualisierungsplattform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22960" y="29809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vSphere / Citrix Hypervisor / Hyper-V  (austauschbar)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218688"/>
            <a:ext cx="8412480" cy="4297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18688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18688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2960" y="325526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Schicht 3 — Storage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22960" y="344728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vSAN / NFS / FC  (hypervisor-agnostisch)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685032"/>
            <a:ext cx="8412480" cy="4297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85032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85032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22960" y="372160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Schicht 2 — Netzwerk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22960" y="39136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NSX / VLAN / SDN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151376"/>
            <a:ext cx="8412480" cy="4297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" y="4151376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151376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22960" y="418795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Schicht 1 — Hardware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2960" y="43799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Server · HCI-Nodes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65760" y="4645152"/>
            <a:ext cx="201168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1792" y="46268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= Phase 1 Scope (aktuell)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Technologie-Stack — Phase 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54864" cy="1691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776" y="1069848"/>
            <a:ext cx="694944" cy="69494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0698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vS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1024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VMware vSphere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12984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</a:rPr>
              <a:t>Hypervisor-Plattform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ESXi-Hosts + vCenter Server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Citrix MCS provisioniert direkt in vSphere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VMware Tools im Schicht 6-Image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14400"/>
            <a:ext cx="54864" cy="1691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82896" y="10698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2896" y="10698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15000" y="1024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HashiCorp Packer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12984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Image-Automation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8745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Vollautomatischer Build-Pipeline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vsphere-iso Plugin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PowerShell-Provisioner je Schicht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8BDF8"/>
                </a:solidFill>
              </a:rPr>
              <a:t>Alt: xoap.io (Multi-Platform)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834640"/>
            <a:ext cx="54864" cy="1691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" y="2990088"/>
            <a:ext cx="694944" cy="69494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299008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25880" y="29443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Citrix MCS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25880" y="32186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Desktop-Provisionierung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Master-Image → vSphere-Katalog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Kein Sysprep erforderlich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MCS IODriver für Write-Cache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834640"/>
            <a:ext cx="54864" cy="1691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82896" y="2990088"/>
            <a:ext cx="694944" cy="69494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99008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W11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15000" y="29443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Windows 11 Pro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715000" y="32186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Betriebssystem (Schicht 5)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379476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Unattended via autounattend.xml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Windows-Update vor VDA-Install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Domain-Join optional (Schicht 5→7)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Packer Build-Pipeline — Automatischer Image-Build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14400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49040" y="1115568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11556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969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W11 Installation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1261872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Unattended via autounattend.xml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65506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655064"/>
            <a:ext cx="438912" cy="685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655064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49040" y="1856232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185623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L6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68680" y="17099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VMware Tools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" y="2002536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Schicht 6 — Paravirtual SCSI / VMXNET3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" y="239572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395728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95728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2596896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2450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OS-Baseline &amp; Hardening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68680" y="2743200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TLS, Explorer, Password-Policy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3136392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3136392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136392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3337560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33756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68680" y="3191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Windows Updates (pre-VDA)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68680" y="3483864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Patches vor Broker-Installation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87705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3877056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3877056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749040" y="4078224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49040" y="407822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686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Domain-Join (optional)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68680" y="4224528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AD-Beitritt vor VDA — L5→L7 Transition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54880" y="9144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914400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914400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183880" y="1115568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83880" y="111556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303520" y="969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Citrix VDA Installation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303520" y="1261872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Silent, ProcessStartInfo, ~15 min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754880" y="165506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54880" y="1655064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0" y="1655064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183880" y="1856232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83880" y="185623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303520" y="17099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Reboot + post-VDA Updates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03520" y="2002536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Vollständige Windows-Patches nach VDA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54880" y="239572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54880" y="2395728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2395728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183880" y="2596896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83880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303520" y="2450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App-Installation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303520" y="2743200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apps-manifest.json via SMB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754880" y="3136392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54880" y="3136392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54880" y="3136392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183880" y="3337560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83880" y="333756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303520" y="3191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VDI-Optimierungen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303520" y="3483864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Citrix Optimizer — Schicht 7a/7b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754880" y="387705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754880" y="3877056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4880" y="3877056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183880" y="4078224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183880" y="407822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0352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MCS-Prep &amp; Export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303520" y="4224528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Kein Sysprep · Pagefile auf D: (Write-Cache) · vid_broker-aware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Projektstatus — Was ist wo?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96112"/>
            <a:ext cx="2761488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4904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5528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Abgeschlossen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Packer vsphere-iso Pipeline aufgebaut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Windows 11 unattended Install + autounattend.xml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VMware Tools (Schicht 6)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OS-Baseline: TLS, Hardening, Password-Policy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Windows Update (pre + post VDA)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Active Directory Domain-Join (mit AD-Stale-Account-Fix)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Citrix VDA 2511 Silent-Install (ProcessStartInfo fix)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VDA-Flags: MCS, EDT, Ports, Defender-Exclusions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MCS-Prep &amp; vollst. End-to-End-Build ✓ · D: Write-Cache-Disk konfiguriert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72968" y="896112"/>
            <a:ext cx="2761488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55264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5264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75888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 Arbeit / Testphase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72968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Citrix MCS-Katalog aus Master-Image provisionieren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MCS-Pilot: VMs starten, VDA-Registrierung validieren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D: Write-Cache Disk im MCS-Betrieb validieren (Pagefile auf D:)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62472" y="896112"/>
            <a:ext cx="2761488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44768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44768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63EB"/>
                </a:solidFill>
              </a:rPr>
              <a:t>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65392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Geplant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62472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App-Installation via apps-manifest.json (Schicht 7c)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VDI-Optimierungen (Citrix Optimizer)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Phase-2-Planung: FSLogix + Entra ID Anforderungen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Multi-Hypervisor-Test: XenServer Build (Phase 2)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Roadmap — Drei Phasen bis zur Zielarchitektur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0472" y="1719072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9047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Q1 2026 — Jetzt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2212848"/>
            <a:ext cx="1005840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AKTIV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578608"/>
            <a:ext cx="2743200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Windows 11 + Citrix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976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Schicht 5: W11 Basisimage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Schicht 6: VMware Tools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Schicht 7: Citrix VDA + MCS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Packer Pipeline + AD-Join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Erster Produktions-Build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70832" y="1719072"/>
            <a:ext cx="402336" cy="40233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083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Q2–Q3 2026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069080" y="2212848"/>
            <a:ext cx="100584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908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GEPLANT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578608"/>
            <a:ext cx="2743200" cy="47548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9184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Profil &amp; Security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1012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FSLogix Profile Container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Microsoft Entra ID (optional)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App Layering Evaluation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AVD Agent Parallelinfra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Security Hardening (CIS)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51192" y="1719072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5119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08076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Q4 2026+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949440" y="2212848"/>
            <a:ext cx="1005840" cy="228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VISION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8076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2578608"/>
            <a:ext cx="2743200" cy="4754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17220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DEX &amp; Monitoring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048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ControlUp Agent (Schicht 8)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uberagent Analytics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Login Enterprise (VSI) — Baseline-Tests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Multi-Hypervisor-Support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Broker-Swap Validation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Vendor-Unabhängigkeit voll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65760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Nächste Schritte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7432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1197864"/>
            <a:ext cx="438912" cy="4389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197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2527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Citrix MCS-Katalog aus Master-Image provisionieren (Pilot)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187452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020824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0208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07568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MCS-Pilot validieren: VM-Start, VDA registriert, Desktop erreichbar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7280" y="269748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" y="2843784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" y="28437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9864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Phase-2-Planung: FSLogix + Entra ID Anforderungen aufnehmen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97280" y="352044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" y="3666744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" y="3666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7216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D: Write-Cache Disk im MCS-Betrieb validieren (Pagefile auf D:)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49440" y="137160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8BDF8">
                    <a:alpha val="75000"/>
                  </a:srgbClr>
                </a:solidFill>
              </a:rPr>
              <a:t>VID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6949440" y="2560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9440" y="290779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Status Update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32186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März 2026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6634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Fragen &amp; Diskussion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oraussetzungen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HeaderAccent"/>
          <p:cNvSpPr/>
          <p:nvPr/>
        </p:nvSpPr>
        <p:spPr>
          <a:xfrm>
            <a:off x="0" y="0"/>
            <a:ext cx="256032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HeaderTitle"/>
          <p:cNvSpPr/>
          <p:nvPr/>
        </p:nvSpPr>
        <p:spPr>
          <a:xfrm>
            <a:off x="411480" y="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2000" b="1" dirty="0">
                <a:solidFill>
                  <a:srgbClr val="FFFFFF"/>
                </a:solidFill>
              </a:rPr>
              <a:t>Voraussetzungen für VID-Erfolg</a:t>
            </a:r>
          </a:p>
        </p:txBody>
      </p:sp>
      <p:sp>
        <p:nvSpPr>
          <p:cNvPr id="5" name="Card1Bg"/>
          <p:cNvSpPr/>
          <p:nvPr/>
        </p:nvSpPr>
        <p:spPr>
          <a:xfrm>
            <a:off x="27432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Card1Bar"/>
          <p:cNvSpPr/>
          <p:nvPr/>
        </p:nvSpPr>
        <p:spPr>
          <a:xfrm>
            <a:off x="274320" y="731520"/>
            <a:ext cx="54864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Card1Title"/>
          <p:cNvSpPr/>
          <p:nvPr/>
        </p:nvSpPr>
        <p:spPr>
          <a:xfrm>
            <a:off x="45720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Standardisierung</a:t>
            </a:r>
          </a:p>
        </p:txBody>
      </p:sp>
      <p:sp>
        <p:nvSpPr>
          <p:cNvPr id="8" name="Card1Body"/>
          <p:cNvSpPr/>
          <p:nvPr/>
        </p:nvSpPr>
        <p:spPr>
          <a:xfrm>
            <a:off x="45720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Einheitliche OS-Images ohne Ausnahmen. Keine abteilungsspezifischen Sonderpakete auf Schicht 5-Ebene.</a:t>
            </a:r>
          </a:p>
        </p:txBody>
      </p:sp>
      <p:sp>
        <p:nvSpPr>
          <p:cNvPr id="9" name="Card2Bg"/>
          <p:cNvSpPr/>
          <p:nvPr/>
        </p:nvSpPr>
        <p:spPr>
          <a:xfrm>
            <a:off x="320040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Card2Bar"/>
          <p:cNvSpPr/>
          <p:nvPr/>
        </p:nvSpPr>
        <p:spPr>
          <a:xfrm>
            <a:off x="3200400" y="73152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Card2Title"/>
          <p:cNvSpPr/>
          <p:nvPr/>
        </p:nvSpPr>
        <p:spPr>
          <a:xfrm>
            <a:off x="338328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Vollautomatisierung</a:t>
            </a:r>
          </a:p>
        </p:txBody>
      </p:sp>
      <p:sp>
        <p:nvSpPr>
          <p:cNvPr id="12" name="Card2Body"/>
          <p:cNvSpPr/>
          <p:nvPr/>
        </p:nvSpPr>
        <p:spPr>
          <a:xfrm>
            <a:off x="338328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Kein manuelles Golding. Jede Änderung läuft durch die Packer-Pipeline — reproduzierbar, versioniert, auditierbar.</a:t>
            </a:r>
          </a:p>
        </p:txBody>
      </p:sp>
      <p:sp>
        <p:nvSpPr>
          <p:cNvPr id="13" name="Card3Bg"/>
          <p:cNvSpPr/>
          <p:nvPr/>
        </p:nvSpPr>
        <p:spPr>
          <a:xfrm>
            <a:off x="612648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Card3Bar"/>
          <p:cNvSpPr/>
          <p:nvPr/>
        </p:nvSpPr>
        <p:spPr>
          <a:xfrm>
            <a:off x="6126480" y="73152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Card3Title"/>
          <p:cNvSpPr/>
          <p:nvPr/>
        </p:nvSpPr>
        <p:spPr>
          <a:xfrm>
            <a:off x="630936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Strikte Schichtentrennung</a:t>
            </a:r>
          </a:p>
        </p:txBody>
      </p:sp>
      <p:sp>
        <p:nvSpPr>
          <p:cNvPr id="16" name="Card3Body"/>
          <p:cNvSpPr/>
          <p:nvPr/>
        </p:nvSpPr>
        <p:spPr>
          <a:xfrm>
            <a:off x="630936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OS (S5), Treiber (S6) und Broker (S7) nie in denselben Scripts vermischt. Broker-Wechsel (Citrix → AVD) erfordert keine Änderung am S5-Script — obwohl Packer immer die komplette Pipeline durchläuft.</a:t>
            </a:r>
          </a:p>
        </p:txBody>
      </p:sp>
      <p:sp>
        <p:nvSpPr>
          <p:cNvPr id="17" name="Card4Bg"/>
          <p:cNvSpPr/>
          <p:nvPr/>
        </p:nvSpPr>
        <p:spPr>
          <a:xfrm>
            <a:off x="27432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Card4Bar"/>
          <p:cNvSpPr/>
          <p:nvPr/>
        </p:nvSpPr>
        <p:spPr>
          <a:xfrm>
            <a:off x="274320" y="2788920"/>
            <a:ext cx="54864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Card4Title"/>
          <p:cNvSpPr/>
          <p:nvPr/>
        </p:nvSpPr>
        <p:spPr>
          <a:xfrm>
            <a:off x="45720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Zentrales Repository</a:t>
            </a:r>
          </a:p>
        </p:txBody>
      </p:sp>
      <p:sp>
        <p:nvSpPr>
          <p:cNvPr id="20" name="Card4Body"/>
          <p:cNvSpPr/>
          <p:nvPr/>
        </p:nvSpPr>
        <p:spPr>
          <a:xfrm>
            <a:off x="45720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Alle Installer, Configs und Tools zentral im VID-Data-Share. Kein lokales Caching — Single Source of Truth.</a:t>
            </a:r>
          </a:p>
        </p:txBody>
      </p:sp>
      <p:sp>
        <p:nvSpPr>
          <p:cNvPr id="21" name="Card5Bg"/>
          <p:cNvSpPr/>
          <p:nvPr/>
        </p:nvSpPr>
        <p:spPr>
          <a:xfrm>
            <a:off x="320040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Card5Bar"/>
          <p:cNvSpPr/>
          <p:nvPr/>
        </p:nvSpPr>
        <p:spPr>
          <a:xfrm>
            <a:off x="3200400" y="278892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Card5Title"/>
          <p:cNvSpPr/>
          <p:nvPr/>
        </p:nvSpPr>
        <p:spPr>
          <a:xfrm>
            <a:off x="338328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Klare Governance</a:t>
            </a:r>
          </a:p>
        </p:txBody>
      </p:sp>
      <p:sp>
        <p:nvSpPr>
          <p:cNvPr id="24" name="Card5Body"/>
          <p:cNvSpPr/>
          <p:nvPr/>
        </p:nvSpPr>
        <p:spPr>
          <a:xfrm>
            <a:off x="338328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Ownership pro Schicht definiert. Änderungen nur durch dokumentierten Prozess — kein Ad-hoc-Patching.</a:t>
            </a:r>
          </a:p>
        </p:txBody>
      </p:sp>
      <p:sp>
        <p:nvSpPr>
          <p:cNvPr id="25" name="Card6Bg"/>
          <p:cNvSpPr/>
          <p:nvPr/>
        </p:nvSpPr>
        <p:spPr>
          <a:xfrm>
            <a:off x="612648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Card6Bar"/>
          <p:cNvSpPr/>
          <p:nvPr/>
        </p:nvSpPr>
        <p:spPr>
          <a:xfrm>
            <a:off x="6126480" y="278892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Card6Title"/>
          <p:cNvSpPr/>
          <p:nvPr/>
        </p:nvSpPr>
        <p:spPr>
          <a:xfrm>
            <a:off x="630936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Pilot vor Rollout</a:t>
            </a:r>
          </a:p>
        </p:txBody>
      </p:sp>
      <p:sp>
        <p:nvSpPr>
          <p:cNvPr id="28" name="Card6Body"/>
          <p:cNvSpPr/>
          <p:nvPr/>
        </p:nvSpPr>
        <p:spPr>
          <a:xfrm>
            <a:off x="630936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Neues Image immer zuerst in Pilot-Gruppe validieren. Rückfalloption via vSphere-Snapshot bleibt erhalten.</a:t>
            </a:r>
          </a:p>
        </p:txBody>
      </p:sp>
      <p:sp>
        <p:nvSpPr>
          <p:cNvPr id="29" name="FooterBg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FooterText"/>
          <p:cNvSpPr/>
          <p:nvPr/>
        </p:nvSpPr>
        <p:spPr>
          <a:xfrm>
            <a:off x="274320" y="48463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900" dirty="0">
                <a:solidFill>
                  <a:srgbClr val="0F1F4B"/>
                </a:solidFill>
              </a:rPr>
              <a:t>VID setzt organisatorische Disziplin voraus — Technik allein genügt nicht. Standards müssen gelebt, nicht nur beschlossen werden.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B06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B06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Vendor Independence Day – Status Update</dc:title>
  <dc:subject>Management Präsentation Phase 1</dc:subject>
  <dc:creator>VID Architektur-Team</dc:creator>
  <cp:lastModifiedBy>VID Architektur-Team</cp:lastModifiedBy>
  <cp:revision>1</cp:revision>
  <dcterms:created xsi:type="dcterms:W3CDTF">2026-03-19T14:53:42Z</dcterms:created>
  <dcterms:modified xsi:type="dcterms:W3CDTF">2026-03-19T14:53:42Z</dcterms:modified>
</cp:coreProperties>
</file>